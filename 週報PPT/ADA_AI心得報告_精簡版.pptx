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6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2286000" cy="9144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309360"/>
            <a:ext cx="36576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Microsoft JhengHei"/>
              </a:rPr>
              <a:t>AI 應用心得報告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A0B4"/>
                </a:solidFill>
                <a:latin typeface="Microsoft JhengHei"/>
              </a:rPr>
              <a:t>從零開始，用我自己的方式學習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icrosoft JhengHei"/>
              </a:rPr>
              <a:t>廠務助理／採購  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Microsoft JhengHei"/>
              </a:rPr>
              <a:t>2026 年 4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2286000" cy="9144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C2654"/>
                </a:solidFill>
                <a:latin typeface="Microsoft JhengHei"/>
              </a:rPr>
              <a:t>目錄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234440"/>
            <a:ext cx="274320" cy="274320"/>
          </a:xfrm>
          <a:prstGeom prst="ellipse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4358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18872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JhengHei"/>
              </a:rPr>
              <a:t>1. 學習起點 — 老闆推薦 Claude Code 課程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920239"/>
            <a:ext cx="274320" cy="274320"/>
          </a:xfrm>
          <a:prstGeom prst="ellipse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2938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JhengHei"/>
              </a:rPr>
              <a:t>2. 語言挑戰 — 完全不懂英文怎麼辦？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606039"/>
            <a:ext cx="274320" cy="274320"/>
          </a:xfrm>
          <a:prstGeom prst="ellipse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6032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JhengHei"/>
              </a:rPr>
              <a:t>3. 初試 Chat — 嘗試整理資料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291839"/>
            <a:ext cx="274320" cy="274320"/>
          </a:xfrm>
          <a:prstGeom prst="ellipse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0098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4612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JhengHei"/>
              </a:rPr>
              <a:t>4. 升級 → Cowork → 同事 HANK 的啟發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3977639"/>
            <a:ext cx="274320" cy="274320"/>
          </a:xfrm>
          <a:prstGeom prst="ellipse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986783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3192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JhengHei"/>
              </a:rPr>
              <a:t>5. 開始使用 CODE — 挑戰與突破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4663440"/>
            <a:ext cx="274320" cy="274320"/>
          </a:xfrm>
          <a:prstGeom prst="ellipse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672583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1772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JhengHei"/>
              </a:rPr>
              <a:t>6. 成果 — 缺料分析自動化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5349240"/>
            <a:ext cx="274320" cy="274320"/>
          </a:xfrm>
          <a:prstGeom prst="ellipse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358383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30352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Microsoft JhengHei"/>
              </a:rPr>
              <a:t>7. 學習方式的轉變 — 未來目標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2286000" cy="9144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C2654"/>
                </a:solidFill>
                <a:latin typeface="Microsoft JhengHei"/>
              </a:rPr>
              <a:t>1. 學習起點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solidFill>
            <a:srgbClr val="2C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A0B4"/>
                </a:solidFill>
                <a:latin typeface="Microsoft JhengHei"/>
              </a:rPr>
              <a:t>老闆推薦 Claude Code 線上課程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icrosoft JhengHei"/>
              </a:rPr>
              <a:t>・課程網址：anthropic.skilljar.com
・課程全程英文，完成後有證書
・老闆說：「你們可以利用 Claude 去讓他想辦法看看如何弄成你們看得懂的」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8229600" cy="1097280"/>
          </a:xfrm>
          <a:prstGeom prst="rect">
            <a:avLst/>
          </a:prstGeom>
          <a:solidFill>
            <a:srgbClr val="E8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654"/>
                </a:solidFill>
                <a:latin typeface="Microsoft JhengHei"/>
              </a:rPr>
              <a:t>這是第一次意識到：AI 可以幫我突破學習的障礙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icrosoft JhengHei"/>
              </a:rPr>
              <a:t>即使完全不懂英文、不懂技術，AI 都可以成為我的學習橋樑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06240"/>
            <a:ext cx="8229600" cy="914400"/>
          </a:xfrm>
          <a:prstGeom prst="rect">
            <a:avLst/>
          </a:prstGeom>
          <a:solidFill>
            <a:srgbClr val="F9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Microsoft JhengHei"/>
              </a:rPr>
              <a:t>開始行動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icrosoft JhengHei"/>
              </a:rPr>
              <a:t>使用免費版 Chat 開始摸索 AI 的使用方式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2286000" cy="9144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2654"/>
                </a:solidFill>
                <a:latin typeface="Microsoft JhengHei"/>
              </a:rPr>
              <a:t>2. 語言挑戰 — 完全不懂英文怎麼辦？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560320" cy="2194560"/>
          </a:xfrm>
          <a:prstGeom prst="rect">
            <a:avLst/>
          </a:prstGeom>
          <a:solidFill>
            <a:srgbClr val="2C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CCCC"/>
                </a:solidFill>
                <a:latin typeface="Microsoft JhengHei"/>
              </a:rPr>
              <a:t>一開始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用截圖翻譯課程內容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EC4"/>
                </a:solidFill>
                <a:latin typeface="Microsoft JhengHe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097280"/>
            <a:ext cx="2560320" cy="2194560"/>
          </a:xfrm>
          <a:prstGeom prst="rect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1887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後來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6916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讓 Claude 翻譯課程筆記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EC4"/>
                </a:solidFill>
                <a:latin typeface="Microsoft JhengHe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097280"/>
            <a:ext cx="2560320" cy="219456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1887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現在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916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透過筆記學習
已完成 2 章，繼續進行中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8229600" cy="777240"/>
          </a:xfrm>
          <a:prstGeom prst="rect">
            <a:avLst/>
          </a:prstGeom>
          <a:solidFill>
            <a:srgbClr val="E8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30168"/>
            <a:ext cx="7863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C2654"/>
                </a:solidFill>
                <a:latin typeface="Microsoft JhengHei"/>
              </a:rPr>
              <a:t>「筆記太深奧，有看沒有懂⋯⋯但沒關係！我改用直接和 AI 對話的方式來學習。」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8229600" cy="777240"/>
          </a:xfrm>
          <a:prstGeom prst="rect">
            <a:avLst/>
          </a:prstGeom>
          <a:solidFill>
            <a:srgbClr val="2C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63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A0B4"/>
                </a:solidFill>
                <a:latin typeface="Microsoft JhengHei"/>
              </a:rPr>
              <a:t>「我用我會的方式，去理解我想懂的東西」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32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B8EC4"/>
                </a:solidFill>
                <a:latin typeface="Microsoft JhengHei"/>
              </a:rPr>
              <a:t>完成課程後可取得證書！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2286000" cy="9144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2654"/>
                </a:solidFill>
                <a:latin typeface="Microsoft JhengHei"/>
              </a:rPr>
              <a:t>3. 初試 Chat（免費版）→ 升級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931920" cy="411480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93192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初試 Chat — 遇到困難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icrosoft JhengHei"/>
              </a:rPr>
              <a:t>❌  丟了大量資料進去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3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icrosoft JhengHei"/>
              </a:rPr>
              <a:t>❌  AI 產出結果有誤差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icrosoft JhengHei"/>
              </a:rPr>
              <a:t>❌  得到很多不需要的東西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59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icrosoft JhengHei"/>
              </a:rPr>
              <a:t>❌  不確定 AI 是否真的能幫到我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97680"/>
            <a:ext cx="3931920" cy="777240"/>
          </a:xfrm>
          <a:prstGeom prst="rect">
            <a:avLst/>
          </a:prstGeom>
          <a:solidFill>
            <a:srgbClr val="E8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C2654"/>
                </a:solidFill>
                <a:latin typeface="Microsoft JhengHei"/>
              </a:rPr>
              <a:t>問題根源：不知道怎麼給正確的指令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097280"/>
            <a:ext cx="3931920" cy="4114800"/>
          </a:xfrm>
          <a:prstGeom prst="rect">
            <a:avLst/>
          </a:prstGeom>
          <a:solidFill>
            <a:srgbClr val="E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1097280"/>
            <a:ext cx="3931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1704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升級！開始使用 Cowork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7373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icrosoft JhengHei"/>
              </a:rPr>
              <a:t>✓  老闆協助升級帳號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37743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icrosoft JhengHei"/>
              </a:rPr>
              <a:t>✓  解鎖 Cowork 功能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0175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icrosoft JhengHei"/>
              </a:rPr>
              <a:t>✓  可以進行更複雜的對話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65759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icrosoft JhengHei"/>
              </a:rPr>
              <a:t>✓  開始能夠做更多事情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4297680"/>
            <a:ext cx="3931920" cy="777240"/>
          </a:xfrm>
          <a:prstGeom prst="rect">
            <a:avLst/>
          </a:prstGeom>
          <a:solidFill>
            <a:srgbClr val="2C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43891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Microsoft JhengHei"/>
              </a:rPr>
              <a:t>有了更好的工具，才能做更多事！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2286000" cy="9144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2654"/>
                </a:solidFill>
                <a:latin typeface="Microsoft JhengHei"/>
              </a:rPr>
              <a:t>4. 同事協助 — 受到啟發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1097280"/>
            <a:ext cx="5852160" cy="594360"/>
          </a:xfrm>
          <a:prstGeom prst="rect">
            <a:avLst/>
          </a:prstGeom>
          <a:solidFill>
            <a:srgbClr val="2C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170432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Microsoft JhengHei"/>
              </a:rPr>
              <a:t>HANK 看到 ADA 每天非常忙碌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7830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A0B4"/>
                </a:solidFill>
                <a:latin typeface="Microsoft JhengHei"/>
              </a:rP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331720"/>
            <a:ext cx="5852160" cy="594360"/>
          </a:xfrm>
          <a:prstGeom prst="rect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404872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Microsoft JhengHei"/>
              </a:rPr>
              <a:t>主動用 Cowork 製作工具（因為他想幫助我節省時間）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99923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A0B4"/>
                </a:solidFill>
                <a:latin typeface="Microsoft JhengHe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3520440"/>
            <a:ext cx="5852160" cy="59436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593592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「拍照製令 → 自動計算需領的料清單」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43400"/>
            <a:ext cx="8229600" cy="8229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C2654"/>
                </a:solidFill>
                <a:latin typeface="Microsoft JhengHei"/>
              </a:rPr>
              <a:t>「看到同事的 AI 應用成果，讓我更有動力！
我也要用 CODE 做出我自己想要的工具！」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B8EC4"/>
                </a:solidFill>
                <a:latin typeface="Microsoft JhengHei"/>
              </a:rPr>
              <a:t>✦ 同事之間的協助非常重要！一個人學 AI 很難，團隊互助讓進步加倍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897880"/>
            <a:ext cx="8229600" cy="594360"/>
          </a:xfrm>
          <a:prstGeom prst="rect">
            <a:avLst/>
          </a:prstGeom>
          <a:solidFill>
            <a:srgbClr val="2C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96188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0B4"/>
                </a:solidFill>
                <a:latin typeface="Microsoft JhengHei"/>
              </a:rPr>
              <a:t>受到啟發 → 4/10 開始使用 CODE！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2286000" cy="9144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2654"/>
                </a:solidFill>
                <a:latin typeface="Microsoft JhengHei"/>
              </a:rPr>
              <a:t>5. 使用 CODE 的挑戰與突破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93192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</a:rPr>
              <a:t>挑戰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931920" cy="96012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指令說錯就「轉圈圈」
一直輸出我不想要的資料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3931920" cy="457200"/>
          </a:xfrm>
          <a:prstGeom prst="rect">
            <a:avLst/>
          </a:prstGeom>
          <a:solidFill>
            <a:srgbClr val="F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Microsoft JhengHei"/>
              </a:rPr>
              <a:t>AI 誤解工廠特殊格式範例：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3931920" cy="182880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3657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icrosoft JhengHei"/>
              </a:rPr>
              <a:t>原始格式：
30*200茶A藍*4   2K 46M
AI 誤解：庫存=4，數量=2K46米
正確：厚30g｜寬200mm｜茶A藍色
      庫存4捲｜K倉2捲｜M倉46捲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097280"/>
            <a:ext cx="3931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1704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</a:rPr>
              <a:t>突破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600200"/>
            <a:ext cx="3931920" cy="960120"/>
          </a:xfrm>
          <a:prstGeom prst="rect">
            <a:avLst/>
          </a:prstGeom>
          <a:solidFill>
            <a:srgbClr val="E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664208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Microsoft JhengHei"/>
              </a:rPr>
              <a:t>學會精確下指令
主動定義每個欄位的含義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743200"/>
            <a:ext cx="3931920" cy="45720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27889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7A3E"/>
                </a:solidFill>
                <a:latin typeface="Microsoft JhengHei"/>
              </a:rPr>
              <a:t>修正後的指令方式：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3200400"/>
            <a:ext cx="3931920" cy="1828800"/>
          </a:xfrm>
          <a:prstGeom prst="rect">
            <a:avLst/>
          </a:prstGeom>
          <a:solidFill>
            <a:srgbClr val="E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3246120"/>
            <a:ext cx="3657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Microsoft JhengHei"/>
              </a:rPr>
              <a:t>告訴 AI：
「30*200茶A藍*4 代表
 厚度30g、寬度200mm、
 顏色茶A藍、庫存4捲；
 2K=K倉2捲、46M=M倉46捲」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57800"/>
            <a:ext cx="8229600" cy="594360"/>
          </a:xfrm>
          <a:prstGeom prst="rect">
            <a:avLst/>
          </a:prstGeom>
          <a:solidFill>
            <a:srgbClr val="2C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3309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A0B4"/>
                </a:solidFill>
                <a:latin typeface="Microsoft JhengHei"/>
              </a:rPr>
              <a:t>「如何對 AI 說話，決定了 AI 能給你什麼」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2286000" cy="9144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2654"/>
                </a:solidFill>
                <a:latin typeface="Microsoft JhengHei"/>
              </a:rPr>
              <a:t>6. 成果 — 缺料分析自動化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029200" cy="457200"/>
          </a:xfrm>
          <a:prstGeom prst="rect">
            <a:avLst/>
          </a:prstGeom>
          <a:solidFill>
            <a:srgbClr val="2C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缺料分析自動化（4/10 完成）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7A3E"/>
                </a:solidFill>
                <a:latin typeface="Microsoft JhengHei"/>
              </a:rPr>
              <a:t>✓  建立自動化缺料分析程式（Python）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7A3E"/>
                </a:solidFill>
                <a:latin typeface="Microsoft JhengHei"/>
              </a:rPr>
              <a:t>✓  整合鼎新ERP、原物料庫存、BOM用料表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7A3E"/>
                </a:solidFill>
                <a:latin typeface="Microsoft JhengHei"/>
              </a:rPr>
              <a:t>✓  自動比對需求與庫存，輸出缺料清單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7A3E"/>
                </a:solidFill>
                <a:latin typeface="Microsoft JhengHei"/>
              </a:rPr>
              <a:t>✓  Excel報表顏色分類一目了然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7A3E"/>
                </a:solidFill>
                <a:latin typeface="Microsoft JhengHei"/>
              </a:rPr>
              <a:t>✓  雙擊批次檔即可一鍵執行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  <a:latin typeface="Microsoft JhengHei"/>
              </a:rPr>
              <a:t>✓  這份 PPT 本身，也是用 CODE 協助產生的！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005840"/>
            <a:ext cx="3108960" cy="457200"/>
          </a:xfrm>
          <a:prstGeom prst="rect">
            <a:avLst/>
          </a:prstGeom>
          <a:solidFill>
            <a:srgbClr val="2C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06070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導入前後對比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463040"/>
            <a:ext cx="1033271" cy="411480"/>
          </a:xfrm>
          <a:prstGeom prst="rect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49047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項目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02552" y="1463040"/>
            <a:ext cx="1033271" cy="411480"/>
          </a:xfrm>
          <a:prstGeom prst="rect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49047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導入前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35824" y="1463040"/>
            <a:ext cx="1033271" cy="411480"/>
          </a:xfrm>
          <a:prstGeom prst="rect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149047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導入後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874519"/>
            <a:ext cx="1033271" cy="420624"/>
          </a:xfrm>
          <a:prstGeom prst="rect">
            <a:avLst/>
          </a:prstGeom>
          <a:solidFill>
            <a:srgbClr val="E8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87568" y="19019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Microsoft JhengHei"/>
              </a:rPr>
              <a:t>資料整理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02552" y="1874519"/>
            <a:ext cx="1033271" cy="420624"/>
          </a:xfrm>
          <a:prstGeom prst="rect">
            <a:avLst/>
          </a:prstGeom>
          <a:solidFill>
            <a:srgbClr val="E8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19019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Microsoft JhengHei"/>
              </a:rPr>
              <a:t>手動核對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35824" y="1874519"/>
            <a:ext cx="1033271" cy="420624"/>
          </a:xfrm>
          <a:prstGeom prst="rect">
            <a:avLst/>
          </a:prstGeom>
          <a:solidFill>
            <a:srgbClr val="E8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54112" y="19019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7A3E"/>
                </a:solidFill>
                <a:latin typeface="Microsoft JhengHei"/>
              </a:rPr>
              <a:t>自動整合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2313432"/>
            <a:ext cx="1033271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87568" y="23408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Microsoft JhengHei"/>
              </a:rPr>
              <a:t>缺料分析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02552" y="2313432"/>
            <a:ext cx="1033271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23408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Microsoft JhengHei"/>
              </a:rPr>
              <a:t>費時人工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35824" y="2313432"/>
            <a:ext cx="1033271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54112" y="23408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7A3E"/>
                </a:solidFill>
                <a:latin typeface="Microsoft JhengHei"/>
              </a:rPr>
              <a:t>秒速輸出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2752344"/>
            <a:ext cx="1033271" cy="420624"/>
          </a:xfrm>
          <a:prstGeom prst="rect">
            <a:avLst/>
          </a:prstGeom>
          <a:solidFill>
            <a:srgbClr val="E8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87568" y="27797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Microsoft JhengHei"/>
              </a:rPr>
              <a:t>錯誤風險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02552" y="2752344"/>
            <a:ext cx="1033271" cy="420624"/>
          </a:xfrm>
          <a:prstGeom prst="rect">
            <a:avLst/>
          </a:prstGeom>
          <a:solidFill>
            <a:srgbClr val="E8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27797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Microsoft JhengHei"/>
              </a:rPr>
              <a:t>難免疏漏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35824" y="2752344"/>
            <a:ext cx="1033271" cy="420624"/>
          </a:xfrm>
          <a:prstGeom prst="rect">
            <a:avLst/>
          </a:prstGeom>
          <a:solidFill>
            <a:srgbClr val="E8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54112" y="27797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7A3E"/>
                </a:solidFill>
                <a:latin typeface="Microsoft JhengHei"/>
              </a:rPr>
              <a:t>邏輯穩定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3191256"/>
            <a:ext cx="1033271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87568" y="32186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Microsoft JhengHei"/>
              </a:rPr>
              <a:t>報表格式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02552" y="3191256"/>
            <a:ext cx="1033271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32186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Microsoft JhengHei"/>
              </a:rPr>
              <a:t>不統一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35824" y="3191256"/>
            <a:ext cx="1033271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54112" y="32186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7A3E"/>
                </a:solidFill>
                <a:latin typeface="Microsoft JhengHei"/>
              </a:rPr>
              <a:t>顏色分類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577840"/>
            <a:ext cx="8229600" cy="685800"/>
          </a:xfrm>
          <a:prstGeom prst="rect">
            <a:avLst/>
          </a:prstGeom>
          <a:solidFill>
            <a:srgbClr val="F9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650992"/>
            <a:ext cx="7863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Microsoft JhengHei"/>
              </a:rPr>
              <a:t>從每天重複的手動作業 → 一鍵自動化，AI 真的改變了我的工作方式！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2286000" cy="9144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2654"/>
                </a:solidFill>
                <a:latin typeface="Microsoft JhengHei"/>
              </a:rPr>
              <a:t>7. 學習方式的轉變 &amp; 未來目標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6984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學習方式的轉變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73152" cy="50292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icrosoft JhengHei"/>
              </a:rPr>
              <a:t>課程筆記看不懂 → 沒關係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13432"/>
            <a:ext cx="73152" cy="502920"/>
          </a:xfrm>
          <a:prstGeom prst="rect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icrosoft JhengHei"/>
              </a:rPr>
              <a:t>不懂英文 → 沒關係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26664"/>
            <a:ext cx="73152" cy="502920"/>
          </a:xfrm>
          <a:prstGeom prst="rect">
            <a:avLst/>
          </a:prstGeom>
          <a:solidFill>
            <a:srgbClr val="2C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26664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icrosoft JhengHei"/>
              </a:rPr>
              <a:t>直接跟 CODE／COWORK 用文字對話去學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39896"/>
            <a:ext cx="73152" cy="50292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39896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icrosoft JhengHei"/>
              </a:rPr>
              <a:t>做中學，邊用邊懂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53128"/>
            <a:ext cx="73152" cy="502920"/>
          </a:xfrm>
          <a:prstGeom prst="rect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453128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Microsoft JhengHei"/>
              </a:rPr>
              <a:t>每一次對話，就是一次學習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57800"/>
            <a:ext cx="4114800" cy="731520"/>
          </a:xfrm>
          <a:prstGeom prst="rect">
            <a:avLst/>
          </a:prstGeom>
          <a:solidFill>
            <a:srgbClr val="2C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E8A0B4"/>
                </a:solidFill>
                <a:latin typeface="Microsoft JhengHei"/>
              </a:rPr>
              <a:t>「我用我會的方式，去理解我想懂的東西」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solidFill>
            <a:srgbClr val="2C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06984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未來目標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1600200"/>
            <a:ext cx="3840480" cy="1325880"/>
          </a:xfrm>
          <a:prstGeom prst="rect">
            <a:avLst/>
          </a:prstGeom>
          <a:solidFill>
            <a:srgbClr val="F9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92040" y="1627632"/>
            <a:ext cx="347472" cy="347472"/>
          </a:xfrm>
          <a:prstGeom prst="ellipse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164592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166420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654"/>
                </a:solidFill>
                <a:latin typeface="Microsoft JhengHei"/>
              </a:rPr>
              <a:t>每日自動化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1031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Microsoft JhengHei"/>
              </a:rPr>
              <a:t>AI 自動讀取訂單生產總表
＋原物料庫存，生成每日報表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3063240"/>
            <a:ext cx="3840480" cy="1325880"/>
          </a:xfrm>
          <a:prstGeom prst="rect">
            <a:avLst/>
          </a:prstGeom>
          <a:solidFill>
            <a:srgbClr val="E8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92040" y="3090672"/>
            <a:ext cx="347472" cy="347472"/>
          </a:xfrm>
          <a:prstGeom prst="ellipse">
            <a:avLst/>
          </a:prstGeom>
          <a:solidFill>
            <a:srgbClr val="9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310896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312724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654"/>
                </a:solidFill>
                <a:latin typeface="Microsoft JhengHei"/>
              </a:rPr>
              <a:t>持續學習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5661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Microsoft JhengHei"/>
              </a:rPr>
              <a:t>完成 Claude Code 課程
取得學習證書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4526280"/>
            <a:ext cx="3840480" cy="13258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92040" y="4553712"/>
            <a:ext cx="347472" cy="347472"/>
          </a:xfrm>
          <a:prstGeom prst="ellipse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457200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45902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654"/>
                </a:solidFill>
                <a:latin typeface="Microsoft JhengHei"/>
              </a:rPr>
              <a:t>持續優化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502920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Microsoft JhengHei"/>
              </a:rPr>
              <a:t>缺料分析持續調整
到最終理想版本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6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2286000" cy="914400"/>
          </a:xfrm>
          <a:prstGeom prst="rect">
            <a:avLst/>
          </a:prstGeom>
          <a:solidFill>
            <a:srgbClr val="E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309360"/>
            <a:ext cx="36576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icrosoft JhengHei"/>
              </a:rPr>
              <a:t>感謝聆聽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A0B4"/>
                </a:solidFill>
                <a:latin typeface="Microsoft JhengHei"/>
              </a:rPr>
              <a:t>AI 陪著我，用我自己的方式成長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icrosoft JhengHei"/>
              </a:rPr>
              <a:t>廠務助理／採購  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Microsoft JhengHei"/>
              </a:rPr>
              <a:t>2026 年 4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